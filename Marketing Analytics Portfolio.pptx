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Outfit"/>
      <p:regular r:id="rId12"/>
      <p:bold r:id="rId13"/>
    </p:embeddedFont>
    <p:embeddedFont>
      <p:font typeface="JetBrains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utfit-bold.fntdata"/><Relationship Id="rId12" Type="http://schemas.openxmlformats.org/officeDocument/2006/relationships/font" Target="fonts/Outfi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JetBrainsMono-bold.fntdata"/><Relationship Id="rId14" Type="http://schemas.openxmlformats.org/officeDocument/2006/relationships/font" Target="fonts/JetBrainsMono-regular.fntdata"/><Relationship Id="rId17" Type="http://schemas.openxmlformats.org/officeDocument/2006/relationships/font" Target="fonts/JetBrainsMono-boldItalic.fntdata"/><Relationship Id="rId16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10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1025"/>
            <a:ext cx="24574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8007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1114425"/>
            <a:ext cx="8001000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Marketing Analytics: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Turning Data into Growth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662957"/>
            <a:ext cx="5715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An executive review of ShopEasy's performance, revealing the hidden opportunities in customer sentiment and engagement data.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47775" y="5857875"/>
            <a:ext cx="771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Ali Ahmad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47775" y="6048375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Data Analyst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861119"/>
            <a:ext cx="11029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28119"/>
            <a:ext cx="3486150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3528119"/>
            <a:ext cx="3486150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4825" y="3528119"/>
            <a:ext cx="3486150" cy="246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1394519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"State of Strategy"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2347019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Our analysis uncovered a polarized performance landscape. While overall volume is down, the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quality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of customer interaction has arguably never been higher.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918644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10.2%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524000" y="4785419"/>
            <a:ext cx="1600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DEC CONVERSION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5118794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Strong rebound after an October dip to 5.0%.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48200" y="3918644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15.4%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219700" y="4785419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ENGAGEMENT RATE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48200" y="5118794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Users are clicking. Content relevance is high.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20100" y="3918644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BBF24"/>
                </a:solidFill>
                <a:latin typeface="Outfit"/>
                <a:ea typeface="Outfit"/>
                <a:cs typeface="Outfit"/>
                <a:sym typeface="Outfit"/>
              </a:rPr>
              <a:t>3.7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334500" y="4785419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AVG RATING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20100" y="5118794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Stable, but misses the strategic 4.0 target.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2400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814387"/>
            <a:ext cx="17716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4895850"/>
            <a:ext cx="18288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1347787"/>
            <a:ext cx="549068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 Year of Peaks &amp; Valleys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153352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2300287"/>
            <a:ext cx="50387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January Peak (18.5%)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Seasonal dominance driven by Ski Boots. The year started strong.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2300287"/>
            <a:ext cx="38100" cy="96202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3548062"/>
            <a:ext cx="50387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May Slump (4.3%)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 critical low point. No product category performed well, indicating a "content drought."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3548062"/>
            <a:ext cx="38100" cy="9620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4795837"/>
            <a:ext cx="50387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Q4 Recovery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Strategic adjustments worked. By December, we climbed back to double digits (10.2%).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4795837"/>
            <a:ext cx="38100" cy="962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047750"/>
            <a:ext cx="52292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834479"/>
            <a:ext cx="20002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82429"/>
            <a:ext cx="5229225" cy="1053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726334"/>
            <a:ext cx="5229225" cy="1297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" y="1057275"/>
            <a:ext cx="521017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381750" y="1367879"/>
            <a:ext cx="549068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Engagement Paradox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381750" y="2891879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We are seeing fewer people, but the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right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people.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19875" y="3720554"/>
            <a:ext cx="499062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Declining Views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19875" y="4053929"/>
            <a:ext cx="4752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Top-of-funnel traffic has dropped consistently. Our reach is shrinking.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19875" y="4964459"/>
            <a:ext cx="499062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"3.7" Ceiling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19875" y="5297834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Customer satisfaction is stuck. Mixed reviews are preventing us from reaching "Elite" status (4.0+).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9875" y="3749129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875" y="4993034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6443"/>
            <a:ext cx="11029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889843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Path to Growth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42343"/>
            <a:ext cx="5229225" cy="465936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81025" y="1842343"/>
            <a:ext cx="4524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counter(action-counter)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43025" y="1842343"/>
            <a:ext cx="469058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Target High-Performers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343025" y="2303264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Stop spreading budget thin. Double down on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Kayaks &amp; Ski Boots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during Jan/Sept peaks.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3293864"/>
            <a:ext cx="4524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counter(action-counter)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343025" y="3293864"/>
            <a:ext cx="469058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Revitalize Content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343025" y="3754784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Fix the view drop. Pivot to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Interactive Video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and user-generated content to widen the funnel.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4745384"/>
            <a:ext cx="4524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counter(action-counter)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343025" y="4745384"/>
            <a:ext cx="469058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Close the Feedback Loop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43025" y="5206305"/>
            <a:ext cx="4467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Break the 3.7 ceiling. Launch a specific campaign to address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Mixed Reviews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and resolve low-hanging complaints.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1681311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Image Sources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34090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81025" y="439191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32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676400" y="277668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https://www.poundsterlinglive.com/images/graphs/1-3-pound-to-euro-exchange-rate-below-trend-line.png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676400" y="302240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www.poundsterlinglive.com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676400" y="356145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https://img.freepik.com/premium-photo/three-stars-out-five-stars-customer-product-rating-review-3-stars-rating-concept-showcasing-review-theme-customer-feedback-satisfaction_165002-15017.jpg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676400" y="400526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www.freepik.com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508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1676400" y="454431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https://images.pond5.com/blueprint-strategy-target-and-intelligence-footage-312320479_iconl.jpeg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676400" y="479003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www.pond5.com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